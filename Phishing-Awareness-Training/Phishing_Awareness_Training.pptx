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093d31ee6e1becf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2093d31ee6e1becf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2093d31ee6e1becf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2093d31ee6e1becf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2093d31ee6e1becf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2093d31ee6e1becf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093d31ee6e1becf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2093d31ee6e1becf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2093d31ee6e1becf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2093d31ee6e1becf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2093d31ee6e1becf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2093d31ee6e1becf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2093d31ee6e1becf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2093d31ee6e1becf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2093d31ee6e1becf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2093d31ee6e1becf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093d31ee6e1becf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2093d31ee6e1becf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2578da2d8d1a15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2578da2d8d1a15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578da2d8d1a159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2578da2d8d1a159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2578da2d8d1a159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2578da2d8d1a159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2578da2d8d1a159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2578da2d8d1a159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2578da2d8d1a159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2578da2d8d1a159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2578da2d8d1a159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2578da2d8d1a159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3f667f6483aea6f4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3f667f6483aea6f4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2578da2d8d1a159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2578da2d8d1a159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2578da2d8d1a159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2578da2d8d1a159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2578da2d8d1a159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2578da2d8d1a159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2578da2d8d1a159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2578da2d8d1a159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2578da2d8d1a159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2578da2d8d1a159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2578da2d8d1a159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2578da2d8d1a159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2578da2d8d1a159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2578da2d8d1a159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2578da2d8d1a159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2578da2d8d1a159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2578da2d8d1a159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2578da2d8d1a159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2578da2d8d1a159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2578da2d8d1a159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2578da2d8d1a159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2578da2d8d1a159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2578da2d8d1a159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2578da2d8d1a159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2578da2d8d1a159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2578da2d8d1a159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2578da2d8d1a159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h2578da2d8d1a159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2578da2d8d1a159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2578da2d8d1a159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2578da2d8d1a159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h2578da2d8d1a159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3f667f6483aea6f4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3f667f6483aea6f4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3f667f6483aea6f4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3f667f6483aea6f4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0124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34125" y="280775"/>
            <a:ext cx="8520600" cy="63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PHISHING AWARENESS TRAINING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7575" y="1115000"/>
            <a:ext cx="5253900" cy="3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Spot the Signs. Stop the Click.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41">
                <a:solidFill>
                  <a:srgbClr val="00FF00"/>
                </a:solidFill>
              </a:rPr>
              <a:t>CodeAlpha Cybersecurity Internship</a:t>
            </a:r>
            <a:endParaRPr b="1" sz="3741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Task 2 | Security Awareness Project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475" y="1188500"/>
            <a:ext cx="3690124" cy="351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00">
                <a:solidFill>
                  <a:srgbClr val="FFFFFF"/>
                </a:solidFill>
              </a:rPr>
              <a:t>Learning Objectives 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39250"/>
            <a:ext cx="8520600" cy="3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FF00"/>
                </a:solidFill>
              </a:rPr>
              <a:t>By the end of this training, you will be able to:             </a:t>
            </a:r>
            <a:r>
              <a:rPr lang="en" sz="4300">
                <a:solidFill>
                  <a:srgbClr val="3D85C6"/>
                </a:solidFill>
              </a:rPr>
              <a:t>                          </a:t>
            </a:r>
            <a:endParaRPr sz="4300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3D85C6"/>
                </a:solidFill>
              </a:rPr>
              <a:t>          📩 </a:t>
            </a:r>
            <a:r>
              <a:rPr lang="en" sz="4300">
                <a:solidFill>
                  <a:srgbClr val="00FF00"/>
                </a:solidFill>
              </a:rPr>
              <a:t> </a:t>
            </a:r>
            <a:r>
              <a:rPr b="1" lang="en" sz="4300">
                <a:solidFill>
                  <a:srgbClr val="FFFFFF"/>
                </a:solidFill>
              </a:rPr>
              <a:t>Recognize Phishing:</a:t>
            </a:r>
            <a:r>
              <a:rPr lang="en" sz="4300">
                <a:solidFill>
                  <a:srgbClr val="FFFFFF"/>
                </a:solidFill>
              </a:rPr>
              <a:t> Identify suspicious emails, messages, links, and fake websites.</a:t>
            </a:r>
            <a:endParaRPr sz="4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FFFFFF"/>
                </a:solidFill>
              </a:rPr>
              <a:t>🛡️  </a:t>
            </a:r>
            <a:r>
              <a:rPr b="1" lang="en" sz="4300">
                <a:solidFill>
                  <a:srgbClr val="00FF00"/>
                </a:solidFill>
              </a:rPr>
              <a:t> </a:t>
            </a:r>
            <a:r>
              <a:rPr b="1" lang="en" sz="4300">
                <a:solidFill>
                  <a:srgbClr val="FFFFFF"/>
                </a:solidFill>
              </a:rPr>
              <a:t>Verify Before You Trust:</a:t>
            </a:r>
            <a:r>
              <a:rPr lang="en" sz="4300">
                <a:solidFill>
                  <a:srgbClr val="FFFFFF"/>
                </a:solidFill>
              </a:rPr>
              <a:t> Check senders and requests before clicking links or sharing                   </a:t>
            </a:r>
            <a:endParaRPr sz="43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FFFFFF"/>
                </a:solidFill>
              </a:rPr>
              <a:t>         information.</a:t>
            </a:r>
            <a:endParaRPr sz="43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FFFFFF"/>
                </a:solidFill>
              </a:rPr>
              <a:t>🚩 </a:t>
            </a:r>
            <a:r>
              <a:rPr b="1" lang="en" sz="4300">
                <a:solidFill>
                  <a:srgbClr val="00FF00"/>
                </a:solidFill>
              </a:rPr>
              <a:t> </a:t>
            </a:r>
            <a:r>
              <a:rPr b="1" lang="en" sz="4300">
                <a:solidFill>
                  <a:srgbClr val="FFFFFF"/>
                </a:solidFill>
              </a:rPr>
              <a:t>Prevent and Report Attacks:</a:t>
            </a:r>
            <a:r>
              <a:rPr lang="en" sz="4300">
                <a:solidFill>
                  <a:srgbClr val="FFFFFF"/>
                </a:solidFill>
              </a:rPr>
              <a:t> Apply safe security habits and report suspicious activity promptly.</a:t>
            </a:r>
            <a:endParaRPr sz="43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b="1" lang="en" sz="4300">
                <a:solidFill>
                  <a:srgbClr val="00FF00"/>
                </a:solidFill>
              </a:rPr>
              <a:t>                                                      Remember: STOP • CHECK • REPORT</a:t>
            </a:r>
            <a:endParaRPr b="1" sz="43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33425" y="330925"/>
            <a:ext cx="85206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What Is Phishing? </a:t>
            </a:r>
            <a:endParaRPr b="1" sz="262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22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20">
                <a:solidFill>
                  <a:srgbClr val="00FF00"/>
                </a:solidFill>
              </a:rPr>
              <a:t>Think before you click. </a:t>
            </a:r>
            <a:endParaRPr b="1" sz="1220">
              <a:solidFill>
                <a:srgbClr val="00FF0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80800" y="1413475"/>
            <a:ext cx="85206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Phishing is a type of cyberattack in which criminals use fake emails, text messages, or websites to trick people into revealing sensitive information or clicking harmful links.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What are attackers trying to steal?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🔑</a:t>
            </a:r>
            <a:r>
              <a:rPr lang="en" sz="1600">
                <a:solidFill>
                  <a:srgbClr val="FFFFFF"/>
                </a:solidFill>
              </a:rPr>
              <a:t> Passwords and login credentials.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💳</a:t>
            </a:r>
            <a:r>
              <a:rPr lang="en" sz="1600">
                <a:solidFill>
                  <a:srgbClr val="FFFFFF"/>
                </a:solidFill>
              </a:rPr>
              <a:t> Banking and payment information.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👤</a:t>
            </a:r>
            <a:r>
              <a:rPr lang="en" sz="1600">
                <a:solidFill>
                  <a:srgbClr val="FFFFFF"/>
                </a:solidFill>
              </a:rPr>
              <a:t> Personal or confidential data.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FF00"/>
                </a:solidFill>
              </a:rPr>
              <a:t>                      Example:</a:t>
            </a:r>
            <a:r>
              <a:rPr lang="en" sz="1600">
                <a:solidFill>
                  <a:srgbClr val="00FF00"/>
                </a:solidFill>
              </a:rPr>
              <a:t> “Your account will be locked! Click here immediately.”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Remember:</a:t>
            </a:r>
            <a:r>
              <a:rPr lang="en" sz="1600">
                <a:solidFill>
                  <a:srgbClr val="FFFFFF"/>
                </a:solidFill>
              </a:rPr>
              <a:t> Always verify unexpected messages before taking action.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09375"/>
            <a:ext cx="8520600" cy="10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Common Types of Phishing</a:t>
            </a:r>
            <a:r>
              <a:rPr b="1" lang="en" sz="2600">
                <a:solidFill>
                  <a:srgbClr val="FFFFFF"/>
                </a:solidFill>
              </a:rPr>
              <a:t>.</a:t>
            </a:r>
            <a:endParaRPr b="1"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FF00"/>
                </a:solidFill>
              </a:rPr>
              <a:t>Attackers use different methods to deceive their victims.</a:t>
            </a:r>
            <a:r>
              <a:rPr b="1" lang="en" sz="1300">
                <a:solidFill>
                  <a:srgbClr val="FFFFFF"/>
                </a:solidFill>
              </a:rPr>
              <a:t>  </a:t>
            </a:r>
            <a:endParaRPr b="1"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63025" y="1000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FFFFFF"/>
                </a:solidFill>
              </a:rPr>
              <a:t> 📧</a:t>
            </a:r>
            <a:r>
              <a:rPr b="1" lang="en" sz="6400">
                <a:solidFill>
                  <a:srgbClr val="FFFFFF"/>
                </a:solidFill>
              </a:rPr>
              <a:t> 1. Email Phishing</a:t>
            </a:r>
            <a:br>
              <a:rPr b="1" lang="en" sz="6400">
                <a:solidFill>
                  <a:srgbClr val="FFFFFF"/>
                </a:solidFill>
              </a:rPr>
            </a:br>
            <a:r>
              <a:rPr b="1" lang="en" sz="6400">
                <a:solidFill>
                  <a:srgbClr val="FFFFFF"/>
                </a:solidFill>
              </a:rPr>
              <a:t>             </a:t>
            </a:r>
            <a:r>
              <a:rPr lang="en" sz="6400">
                <a:solidFill>
                  <a:srgbClr val="FFFFFF"/>
                </a:solidFill>
              </a:rPr>
              <a:t>Fake emails that trick users into clicking links or opening attachments.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FFFFFF"/>
                </a:solidFill>
              </a:rPr>
              <a:t> </a:t>
            </a:r>
            <a:r>
              <a:rPr b="1" lang="en" sz="7200">
                <a:solidFill>
                  <a:srgbClr val="FFFFFF"/>
                </a:solidFill>
              </a:rPr>
              <a:t>🎯 </a:t>
            </a:r>
            <a:r>
              <a:rPr b="1" lang="en" sz="6400">
                <a:solidFill>
                  <a:srgbClr val="FFFFFF"/>
                </a:solidFill>
              </a:rPr>
              <a:t>2. Spear Phishing</a:t>
            </a:r>
            <a:br>
              <a:rPr b="1" lang="en" sz="6400">
                <a:solidFill>
                  <a:srgbClr val="FFFFFF"/>
                </a:solidFill>
              </a:rPr>
            </a:br>
            <a:r>
              <a:rPr b="1" lang="en" sz="6400">
                <a:solidFill>
                  <a:srgbClr val="FFFFFF"/>
                </a:solidFill>
              </a:rPr>
              <a:t>             </a:t>
            </a:r>
            <a:r>
              <a:rPr lang="en" sz="6400">
                <a:solidFill>
                  <a:srgbClr val="FFFFFF"/>
                </a:solidFill>
              </a:rPr>
              <a:t>Personalized messages targeting a specific person or organization.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FFFFFF"/>
                </a:solidFill>
              </a:rPr>
              <a:t>📱</a:t>
            </a:r>
            <a:r>
              <a:rPr b="1" lang="en" sz="6400">
                <a:solidFill>
                  <a:srgbClr val="FFFFFF"/>
                </a:solidFill>
              </a:rPr>
              <a:t> 3. Smishing</a:t>
            </a:r>
            <a:br>
              <a:rPr b="1" lang="en" sz="6400">
                <a:solidFill>
                  <a:srgbClr val="FFFFFF"/>
                </a:solidFill>
              </a:rPr>
            </a:br>
            <a:r>
              <a:rPr b="1" lang="en" sz="6400">
                <a:solidFill>
                  <a:srgbClr val="FFFFFF"/>
                </a:solidFill>
              </a:rPr>
              <a:t>             </a:t>
            </a:r>
            <a:r>
              <a:rPr lang="en" sz="6400">
                <a:solidFill>
                  <a:srgbClr val="FFFFFF"/>
                </a:solidFill>
              </a:rPr>
              <a:t>Fraudulent text messages designed to steal information.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FFFFFF"/>
                </a:solidFill>
              </a:rPr>
              <a:t> </a:t>
            </a:r>
            <a:r>
              <a:rPr b="1" lang="en" sz="7200">
                <a:solidFill>
                  <a:srgbClr val="FFFFFF"/>
                </a:solidFill>
              </a:rPr>
              <a:t>📞</a:t>
            </a:r>
            <a:r>
              <a:rPr b="1" lang="en" sz="6400">
                <a:solidFill>
                  <a:srgbClr val="FFFFFF"/>
                </a:solidFill>
              </a:rPr>
              <a:t> 4. Vishing</a:t>
            </a:r>
            <a:br>
              <a:rPr b="1" lang="en" sz="6400">
                <a:solidFill>
                  <a:srgbClr val="FFFFFF"/>
                </a:solidFill>
              </a:rPr>
            </a:br>
            <a:r>
              <a:rPr b="1" lang="en" sz="6400">
                <a:solidFill>
                  <a:srgbClr val="FFFFFF"/>
                </a:solidFill>
              </a:rPr>
              <a:t>             </a:t>
            </a:r>
            <a:r>
              <a:rPr lang="en" sz="6400">
                <a:solidFill>
                  <a:srgbClr val="FFFFFF"/>
                </a:solidFill>
              </a:rPr>
              <a:t>Fake phone calls used to obtain sensitive information.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FFFFFF"/>
                </a:solidFill>
              </a:rPr>
              <a:t>🌐</a:t>
            </a:r>
            <a:r>
              <a:rPr b="1" lang="en" sz="6400">
                <a:solidFill>
                  <a:srgbClr val="FFFFFF"/>
                </a:solidFill>
              </a:rPr>
              <a:t> 5.  Fake Login Pages</a:t>
            </a:r>
            <a:br>
              <a:rPr b="1" lang="en" sz="6400">
                <a:solidFill>
                  <a:srgbClr val="FFFFFF"/>
                </a:solidFill>
              </a:rPr>
            </a:br>
            <a:r>
              <a:rPr b="1" lang="en" sz="6400">
                <a:solidFill>
                  <a:srgbClr val="FFFFFF"/>
                </a:solidFill>
              </a:rPr>
              <a:t>             </a:t>
            </a:r>
            <a:r>
              <a:rPr lang="en" sz="6400">
                <a:solidFill>
                  <a:srgbClr val="FFFFFF"/>
                </a:solidFill>
              </a:rPr>
              <a:t>Websites that imitate legitimate sign-in pages to steal passwords.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FF00"/>
                </a:solidFill>
              </a:rPr>
              <a:t>Stay alert:</a:t>
            </a:r>
            <a:r>
              <a:rPr lang="en" sz="5200">
                <a:solidFill>
                  <a:srgbClr val="00FF00"/>
                </a:solidFill>
              </a:rPr>
              <a:t> Attackers use different methods, but the goal is often to steal information or gain unauthorized access.</a:t>
            </a:r>
            <a:endParaRPr sz="5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484"/>
              <a:buFont typeface="Arial"/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62325" y="138975"/>
            <a:ext cx="85206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33">
                <a:solidFill>
                  <a:srgbClr val="FFFFFF"/>
                </a:solidFill>
              </a:rPr>
              <a:t>Signs of Phishing </a:t>
            </a:r>
            <a:endParaRPr sz="1822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2">
                <a:solidFill>
                  <a:srgbClr val="00FF00"/>
                </a:solidFill>
              </a:rPr>
              <a:t>Think twice before you click!</a:t>
            </a:r>
            <a:r>
              <a:rPr b="1" lang="en" sz="1822">
                <a:solidFill>
                  <a:srgbClr val="00FF00"/>
                </a:solidFill>
              </a:rPr>
              <a:t> </a:t>
            </a:r>
            <a:endParaRPr b="1" sz="1822">
              <a:solidFill>
                <a:srgbClr val="00FF00"/>
              </a:solidFill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904500"/>
            <a:ext cx="8520600" cy="3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⚠️</a:t>
            </a:r>
            <a:r>
              <a:rPr b="1" lang="en" sz="1600">
                <a:solidFill>
                  <a:srgbClr val="FFFFFF"/>
                </a:solidFill>
              </a:rPr>
              <a:t>   1. Urgent or threatening language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</a:t>
            </a:r>
            <a:r>
              <a:rPr lang="en" sz="1600">
                <a:solidFill>
                  <a:srgbClr val="FFFFFF"/>
                </a:solidFill>
              </a:rPr>
              <a:t>Example: “Your account will be closed in 10 minutes!”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📧 </a:t>
            </a:r>
            <a:r>
              <a:rPr b="1" lang="en" sz="1600">
                <a:solidFill>
                  <a:srgbClr val="FFFFFF"/>
                </a:solidFill>
              </a:rPr>
              <a:t>  2. Suspicious sender address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</a:t>
            </a:r>
            <a:r>
              <a:rPr lang="en" sz="1600">
                <a:solidFill>
                  <a:srgbClr val="FFFFFF"/>
                </a:solidFill>
              </a:rPr>
              <a:t>The email address doesn't match the claimed organization.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🔗 </a:t>
            </a:r>
            <a:r>
              <a:rPr b="1" lang="en" sz="1600">
                <a:solidFill>
                  <a:srgbClr val="FFFFFF"/>
                </a:solidFill>
              </a:rPr>
              <a:t>  3. Unexpected links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</a:t>
            </a:r>
            <a:r>
              <a:rPr lang="en" sz="1600">
                <a:solidFill>
                  <a:srgbClr val="FFFFFF"/>
                </a:solidFill>
              </a:rPr>
              <a:t>The link leads to an unfamiliar or misspelled domain.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📎 </a:t>
            </a:r>
            <a:r>
              <a:rPr b="1" lang="en" sz="1600">
                <a:solidFill>
                  <a:srgbClr val="FFFFFF"/>
                </a:solidFill>
              </a:rPr>
              <a:t>  4. Unexpected attachments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</a:t>
            </a:r>
            <a:r>
              <a:rPr lang="en" sz="1600">
                <a:solidFill>
                  <a:srgbClr val="FFFFFF"/>
                </a:solidFill>
              </a:rPr>
              <a:t>Unknown files may contain malware.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🔑</a:t>
            </a:r>
            <a:r>
              <a:rPr b="1" lang="en" sz="1600">
                <a:solidFill>
                  <a:srgbClr val="FFFFFF"/>
                </a:solidFill>
              </a:rPr>
              <a:t>   5. Requests for sensitive information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</a:t>
            </a:r>
            <a:r>
              <a:rPr lang="en" sz="1600">
                <a:solidFill>
                  <a:srgbClr val="FFFFFF"/>
                </a:solidFill>
              </a:rPr>
              <a:t>Messages ask for passwords, payment details, or verification codes.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FF00"/>
                </a:solidFill>
              </a:rPr>
              <a:t>Remember:</a:t>
            </a:r>
            <a:r>
              <a:rPr lang="en" sz="1600">
                <a:solidFill>
                  <a:srgbClr val="00FF00"/>
                </a:solidFill>
              </a:rPr>
              <a:t> A single warning sign doesn't prove a message is malicious, but it means you should verify it carefully.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76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Example of a Suspicious Email</a:t>
            </a:r>
            <a:r>
              <a:rPr b="1" lang="en" sz="2600">
                <a:solidFill>
                  <a:srgbClr val="FFFFFF"/>
                </a:solidFill>
              </a:rPr>
              <a:t>.</a:t>
            </a: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59700" y="3420100"/>
            <a:ext cx="9024600" cy="21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rgbClr val="FFFFFF"/>
                </a:solidFill>
              </a:rPr>
              <a:t>Red flags to notice:</a:t>
            </a:r>
            <a:endParaRPr b="1" sz="1400">
              <a:solidFill>
                <a:srgbClr val="FFFFFF"/>
              </a:solidFill>
            </a:endParaRPr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ct val="85612"/>
              <a:buChar char="●"/>
            </a:pPr>
            <a:r>
              <a:rPr lang="en" sz="1635">
                <a:solidFill>
                  <a:srgbClr val="FFFFFF"/>
                </a:solidFill>
              </a:rPr>
              <a:t>⚠️</a:t>
            </a:r>
            <a:r>
              <a:rPr lang="en" sz="1400">
                <a:solidFill>
                  <a:srgbClr val="FFFFFF"/>
                </a:solidFill>
              </a:rPr>
              <a:t> Urgent threat</a:t>
            </a:r>
            <a:endParaRPr sz="1400">
              <a:solidFill>
                <a:srgbClr val="FFFFFF"/>
              </a:solidFill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79350"/>
              <a:buChar char="●"/>
            </a:pPr>
            <a:r>
              <a:rPr lang="en" sz="1764">
                <a:solidFill>
                  <a:srgbClr val="FFFFFF"/>
                </a:solidFill>
              </a:rPr>
              <a:t>📧</a:t>
            </a:r>
            <a:r>
              <a:rPr lang="en" sz="1400">
                <a:solidFill>
                  <a:srgbClr val="FFFFFF"/>
                </a:solidFill>
              </a:rPr>
              <a:t> Unverified sender</a:t>
            </a:r>
            <a:endParaRPr sz="1400">
              <a:solidFill>
                <a:srgbClr val="FFFFFF"/>
              </a:solidFill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78339"/>
              <a:buChar char="●"/>
            </a:pPr>
            <a:r>
              <a:rPr lang="en" sz="1787">
                <a:solidFill>
                  <a:srgbClr val="FFFFFF"/>
                </a:solidFill>
              </a:rPr>
              <a:t>🔗</a:t>
            </a:r>
            <a:r>
              <a:rPr lang="en" sz="1400">
                <a:solidFill>
                  <a:srgbClr val="FFFFFF"/>
                </a:solidFill>
              </a:rPr>
              <a:t> Suspicious link</a:t>
            </a:r>
            <a:endParaRPr sz="1400">
              <a:solidFill>
                <a:srgbClr val="FFFFFF"/>
              </a:solidFill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78339"/>
              <a:buChar char="●"/>
            </a:pPr>
            <a:r>
              <a:rPr lang="en" sz="1787">
                <a:solidFill>
                  <a:srgbClr val="FFFFFF"/>
                </a:solidFill>
              </a:rPr>
              <a:t>🔑 </a:t>
            </a:r>
            <a:r>
              <a:rPr lang="en" sz="1400">
                <a:solidFill>
                  <a:srgbClr val="FFFFFF"/>
                </a:solidFill>
              </a:rPr>
              <a:t>Request for a password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FF00"/>
                </a:solidFill>
              </a:rPr>
              <a:t>Lesson:</a:t>
            </a:r>
            <a:r>
              <a:rPr lang="en" sz="1400">
                <a:solidFill>
                  <a:srgbClr val="00FF00"/>
                </a:solidFill>
              </a:rPr>
              <a:t> Never trust a message just because it looks official. Verify it through the organization's official website or app.</a:t>
            </a:r>
            <a:r>
              <a:rPr i="1" lang="en" sz="1400">
                <a:solidFill>
                  <a:srgbClr val="00FF00"/>
                </a:solidFill>
              </a:rPr>
              <a:t>Note: This is a fictional training example.</a:t>
            </a:r>
            <a:endParaRPr i="1" sz="14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96425" y="517600"/>
            <a:ext cx="7161900" cy="297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0000"/>
                </a:solidFill>
              </a:rPr>
              <a:t>Subject:</a:t>
            </a:r>
            <a:r>
              <a:rPr lang="en" sz="1200">
                <a:solidFill>
                  <a:srgbClr val="FF0000"/>
                </a:solidFill>
              </a:rPr>
              <a:t> URGENT: Your account will be suspended!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From:</a:t>
            </a:r>
            <a:r>
              <a:rPr lang="en" sz="1200">
                <a:solidFill>
                  <a:schemeClr val="dk1"/>
                </a:solidFill>
              </a:rPr>
              <a:t> security-alert@example-fake.test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Message: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Dear Customer,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Your account will be closed in 30 minutes. Click the link below immediately to verify your password and avoid losing access.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0000"/>
                </a:solidFill>
              </a:rPr>
              <a:t>[Suspicious verification link — do not click]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Thank you,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Account Security Team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How to Check Links Safely 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7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rgbClr val="FFFFFF"/>
                </a:solidFill>
              </a:rPr>
              <a:t>🔍   1. Inspect the domain</a:t>
            </a:r>
            <a:br>
              <a:rPr b="1" lang="en" sz="4000">
                <a:solidFill>
                  <a:srgbClr val="FFFFFF"/>
                </a:solidFill>
              </a:rPr>
            </a:br>
            <a:r>
              <a:rPr b="1" lang="en" sz="4000">
                <a:solidFill>
                  <a:srgbClr val="FFFFFF"/>
                </a:solidFill>
              </a:rPr>
              <a:t>         </a:t>
            </a:r>
            <a:r>
              <a:rPr lang="en" sz="4000">
                <a:solidFill>
                  <a:srgbClr val="FFFFFF"/>
                </a:solidFill>
              </a:rPr>
              <a:t>Look for misspellings, extra words, or unusual domain names.</a:t>
            </a:r>
            <a:endParaRPr sz="4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rgbClr val="FFFFFF"/>
                </a:solidFill>
              </a:rPr>
              <a:t>🖱️    2. Preview the link</a:t>
            </a:r>
            <a:br>
              <a:rPr b="1" lang="en" sz="4000">
                <a:solidFill>
                  <a:srgbClr val="FFFFFF"/>
                </a:solidFill>
              </a:rPr>
            </a:br>
            <a:r>
              <a:rPr b="1" lang="en" sz="4000">
                <a:solidFill>
                  <a:srgbClr val="FFFFFF"/>
                </a:solidFill>
              </a:rPr>
              <a:t>         </a:t>
            </a:r>
            <a:r>
              <a:rPr lang="en" sz="4000">
                <a:solidFill>
                  <a:srgbClr val="FFFFFF"/>
                </a:solidFill>
              </a:rPr>
              <a:t>On a computer, hover over a link to inspect its destination without opening it.</a:t>
            </a:r>
            <a:endParaRPr sz="4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rgbClr val="FFFFFF"/>
                </a:solidFill>
              </a:rPr>
              <a:t>🌐     3. Use a trusted route</a:t>
            </a:r>
            <a:br>
              <a:rPr b="1" lang="en" sz="4000">
                <a:solidFill>
                  <a:srgbClr val="FFFFFF"/>
                </a:solidFill>
              </a:rPr>
            </a:br>
            <a:r>
              <a:rPr b="1" lang="en" sz="4000">
                <a:solidFill>
                  <a:srgbClr val="FFFFFF"/>
                </a:solidFill>
              </a:rPr>
              <a:t>          </a:t>
            </a:r>
            <a:r>
              <a:rPr lang="en" sz="4000">
                <a:solidFill>
                  <a:srgbClr val="FFFFFF"/>
                </a:solidFill>
              </a:rPr>
              <a:t>Open the official website using a saved bookmark or type its known address yourself.</a:t>
            </a:r>
            <a:endParaRPr sz="4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🔒     4. Don't rely on HTTPS alone</a:t>
            </a:r>
            <a:br>
              <a:rPr b="1" lang="en" sz="4000">
                <a:solidFill>
                  <a:srgbClr val="FFFFFF"/>
                </a:solidFill>
              </a:rPr>
            </a:br>
            <a:r>
              <a:rPr b="1" lang="en" sz="4000">
                <a:solidFill>
                  <a:srgbClr val="FFFFFF"/>
                </a:solidFill>
              </a:rPr>
              <a:t>          </a:t>
            </a:r>
            <a:r>
              <a:rPr lang="en" sz="4000">
                <a:solidFill>
                  <a:srgbClr val="FFFFFF"/>
                </a:solidFill>
              </a:rPr>
              <a:t>A secure connection does not guarantee that a website is legitimate.</a:t>
            </a:r>
            <a:endParaRPr sz="4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rgbClr val="00FF00"/>
                </a:solidFill>
              </a:rPr>
              <a:t>Remember:</a:t>
            </a:r>
            <a:r>
              <a:rPr lang="en" sz="4000">
                <a:solidFill>
                  <a:srgbClr val="00FF00"/>
                </a:solidFill>
              </a:rPr>
              <a:t> If a link seems suspicious, don't click it. Verify the request independently through an official website, app, or known contact.</a:t>
            </a:r>
            <a:endParaRPr sz="4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274950" y="307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Social Engineering Tactics 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274950" y="932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⏰ 1. Urgency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  </a:t>
            </a:r>
            <a:r>
              <a:rPr lang="en" sz="1600">
                <a:solidFill>
                  <a:srgbClr val="FFFFFF"/>
                </a:solidFill>
              </a:rPr>
              <a:t>“Act now or your account will be blocked!”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👔 2. Authority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   </a:t>
            </a:r>
            <a:r>
              <a:rPr lang="en" sz="1600">
                <a:solidFill>
                  <a:srgbClr val="FFFFFF"/>
                </a:solidFill>
              </a:rPr>
              <a:t>Pretending to be a boss, bank employee, or IT support worker.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😨 3. Fear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   </a:t>
            </a:r>
            <a:r>
              <a:rPr lang="en" sz="1600">
                <a:solidFill>
                  <a:srgbClr val="FFFFFF"/>
                </a:solidFill>
              </a:rPr>
              <a:t>Threatening account closure, fines, or security problems.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🎁 4. Curiosity or Reward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   </a:t>
            </a:r>
            <a:r>
              <a:rPr lang="en" sz="1600">
                <a:solidFill>
                  <a:srgbClr val="FFFFFF"/>
                </a:solidFill>
              </a:rPr>
              <a:t>Offering a fake prize or tempting offer to encourage a click.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🤝 5. Trust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    </a:t>
            </a:r>
            <a:r>
              <a:rPr lang="en" sz="1600">
                <a:solidFill>
                  <a:srgbClr val="FFFFFF"/>
                </a:solidFill>
              </a:rPr>
              <a:t>Impersonating a familiar person or trusted organization.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FF00"/>
                </a:solidFill>
              </a:rPr>
              <a:t>Remember:</a:t>
            </a:r>
            <a:r>
              <a:rPr lang="en" sz="1600">
                <a:solidFill>
                  <a:srgbClr val="00FF00"/>
                </a:solidFill>
              </a:rPr>
              <a:t> Don't let pressure or emotion stop you from verifying a request.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How to Prevent Phishing 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968800"/>
            <a:ext cx="8520600" cy="3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🔑 Use strong, unique passwords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</a:t>
            </a:r>
            <a:r>
              <a:rPr lang="en" sz="1600">
                <a:solidFill>
                  <a:srgbClr val="FFFFFF"/>
                </a:solidFill>
              </a:rPr>
              <a:t>Use a password manager to help manage them securely.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🛡️ Enable multi-factor authentication (MFA)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</a:t>
            </a:r>
            <a:r>
              <a:rPr lang="en" sz="1600">
                <a:solidFill>
                  <a:srgbClr val="FFFFFF"/>
                </a:solidFill>
              </a:rPr>
              <a:t>Add another layer of protection to your accounts.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🔍 Verify unexpected requests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</a:t>
            </a:r>
            <a:r>
              <a:rPr lang="en" sz="1600">
                <a:solidFill>
                  <a:srgbClr val="FFFFFF"/>
                </a:solidFill>
              </a:rPr>
              <a:t>Contact the sender through a known, trusted channel.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🔄 Keep software updated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</a:t>
            </a:r>
            <a:r>
              <a:rPr lang="en" sz="1600">
                <a:solidFill>
                  <a:srgbClr val="FFFFFF"/>
                </a:solidFill>
              </a:rPr>
              <a:t>Install security updates for your browser, device, and apps.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🚩 Report suspicious messages</a:t>
            </a:r>
            <a:br>
              <a:rPr b="1" lang="en" sz="1600">
                <a:solidFill>
                  <a:srgbClr val="FFFFFF"/>
                </a:solidFill>
              </a:rPr>
            </a:br>
            <a:r>
              <a:rPr b="1" lang="en" sz="1600">
                <a:solidFill>
                  <a:srgbClr val="FFFFFF"/>
                </a:solidFill>
              </a:rPr>
              <a:t>       </a:t>
            </a:r>
            <a:r>
              <a:rPr lang="en" sz="1600">
                <a:solidFill>
                  <a:srgbClr val="FFFFFF"/>
                </a:solidFill>
              </a:rPr>
              <a:t>Use your organization's approved reporting process.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FF00"/>
                </a:solidFill>
              </a:rPr>
              <a:t>Remember:</a:t>
            </a:r>
            <a:r>
              <a:rPr lang="en" sz="1600">
                <a:solidFill>
                  <a:srgbClr val="00FF00"/>
                </a:solidFill>
              </a:rPr>
              <a:t> Stop, check, and verify before you click or share information.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77600" y="24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6872"/>
              <a:buFont typeface="Arial"/>
              <a:buNone/>
            </a:pPr>
            <a:r>
              <a:rPr b="1" lang="en" sz="2983">
                <a:solidFill>
                  <a:srgbClr val="FFFFFF"/>
                </a:solidFill>
              </a:rPr>
              <a:t>Clicked a Phishing Link?</a:t>
            </a:r>
            <a:endParaRPr b="1" sz="2983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</a:rPr>
              <a:t> </a:t>
            </a:r>
            <a:endParaRPr sz="4200">
              <a:solidFill>
                <a:srgbClr val="FFFFFF"/>
              </a:solidFill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448775" y="764125"/>
            <a:ext cx="85206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600">
                <a:solidFill>
                  <a:srgbClr val="00FF00"/>
                </a:solidFill>
              </a:rPr>
              <a:t>Stay calm. Act quickly. Protect your accounts.</a:t>
            </a:r>
            <a:endParaRPr b="1" sz="1600">
              <a:solidFill>
                <a:srgbClr val="00FF00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AutoNum type="arabicPeriod"/>
            </a:pPr>
            <a:r>
              <a:rPr b="1" lang="en" sz="1600">
                <a:solidFill>
                  <a:srgbClr val="FFFFFF"/>
                </a:solidFill>
              </a:rPr>
              <a:t>Stop interacting:</a:t>
            </a:r>
            <a:r>
              <a:rPr lang="en" sz="1600">
                <a:solidFill>
                  <a:srgbClr val="FFFFFF"/>
                </a:solidFill>
              </a:rPr>
              <a:t> Close the suspicious page. Do not enter sensitive information.</a:t>
            </a:r>
            <a:endParaRPr sz="16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AutoNum type="arabicPeriod"/>
            </a:pPr>
            <a:r>
              <a:rPr b="1" lang="en" sz="1600">
                <a:solidFill>
                  <a:srgbClr val="FFFFFF"/>
                </a:solidFill>
              </a:rPr>
              <a:t>Report it:</a:t>
            </a:r>
            <a:r>
              <a:rPr lang="en" sz="1600">
                <a:solidFill>
                  <a:srgbClr val="FFFFFF"/>
                </a:solidFill>
              </a:rPr>
              <a:t> Notify your IT or security team through the approved process.</a:t>
            </a:r>
            <a:endParaRPr sz="16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AutoNum type="arabicPeriod"/>
            </a:pPr>
            <a:r>
              <a:rPr b="1" lang="en" sz="1600">
                <a:solidFill>
                  <a:srgbClr val="FFFFFF"/>
                </a:solidFill>
              </a:rPr>
              <a:t>Secure your accounts:</a:t>
            </a:r>
            <a:r>
              <a:rPr lang="en" sz="1600">
                <a:solidFill>
                  <a:srgbClr val="FFFFFF"/>
                </a:solidFill>
              </a:rPr>
              <a:t> If you entered a password, change it using a trusted device. Update reused passwords and enable MFA.</a:t>
            </a:r>
            <a:endParaRPr sz="16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AutoNum type="arabicPeriod"/>
            </a:pPr>
            <a:r>
              <a:rPr b="1" lang="en" sz="1600">
                <a:solidFill>
                  <a:srgbClr val="FFFFFF"/>
                </a:solidFill>
              </a:rPr>
              <a:t>Follow security advice:</a:t>
            </a:r>
            <a:r>
              <a:rPr lang="en" sz="1600">
                <a:solidFill>
                  <a:srgbClr val="FFFFFF"/>
                </a:solidFill>
              </a:rPr>
              <a:t> Contact your bank if payment details were shared. Follow IT guidance if you downloaded a file or notice unusual activity.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600">
                <a:solidFill>
                  <a:srgbClr val="00FF00"/>
                </a:solidFill>
              </a:rPr>
              <a:t>Remember:</a:t>
            </a:r>
            <a:r>
              <a:rPr lang="en" sz="1600">
                <a:solidFill>
                  <a:srgbClr val="00FF00"/>
                </a:solidFill>
              </a:rPr>
              <a:t> A click does not always mean compromise — but act promptly.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66825" y="38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What to Do If You Suspect a Phishing Attack 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83050"/>
            <a:ext cx="85206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Do not click suspicious links or open unexpected attachments.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Do not reply or share passwords, personal details, or verification codes.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Report the message to your IT or security team, or use your email provider's phishing-report option.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If you clicked a link, stop interacting with the page and do not enter any more information.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If you shared your password, change it immediately using the official website and contact your IT or security team.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00">
                <a:solidFill>
                  <a:srgbClr val="FFFFFF"/>
                </a:solidFill>
              </a:rPr>
              <a:t>If you downloaded a suspicious file, contact your security team for help.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00">
                <a:solidFill>
                  <a:srgbClr val="FFFFFF"/>
                </a:solidFill>
              </a:rPr>
              <a:t>             </a:t>
            </a:r>
            <a:endParaRPr b="1"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600">
                <a:solidFill>
                  <a:srgbClr val="00FF00"/>
                </a:solidFill>
              </a:rPr>
              <a:t>                                                      Stop. Verify. Report. </a:t>
            </a:r>
            <a:endParaRPr b="1"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180000" y="89125"/>
            <a:ext cx="87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Real-World Phishing Example:</a:t>
            </a:r>
            <a:endParaRPr b="1" sz="262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FFFFFF"/>
                </a:solidFill>
              </a:rPr>
              <a:t> How to Spot a Fake Email</a:t>
            </a:r>
            <a:endParaRPr b="1" sz="2220">
              <a:solidFill>
                <a:srgbClr val="FFFFFF"/>
              </a:solidFill>
            </a:endParaRP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232725" y="1034025"/>
            <a:ext cx="8520600" cy="3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620">
                <a:solidFill>
                  <a:srgbClr val="FFFFFF"/>
                </a:solidFill>
              </a:rPr>
              <a:t>EXAMPLE OF A SUSPICIOUS EMAIL</a:t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1620">
                <a:solidFill>
                  <a:srgbClr val="FFFFFF"/>
                </a:solidFill>
              </a:rPr>
              <a:t>Subject:</a:t>
            </a:r>
            <a:r>
              <a:rPr lang="en" sz="1620">
                <a:solidFill>
                  <a:srgbClr val="FFFFFF"/>
                </a:solidFill>
              </a:rPr>
              <a:t> URGENT! Your Account Will Be Suspended</a:t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1620">
                <a:solidFill>
                  <a:srgbClr val="FFFFFF"/>
                </a:solidFill>
              </a:rPr>
              <a:t>Dear User</a:t>
            </a:r>
            <a:r>
              <a:rPr lang="en" sz="1620">
                <a:solidFill>
                  <a:srgbClr val="FFFFFF"/>
                </a:solidFill>
              </a:rPr>
              <a:t>,</a:t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620">
                <a:solidFill>
                  <a:srgbClr val="FFFFFF"/>
                </a:solidFill>
              </a:rPr>
              <a:t>We detected unusual activity on your account. Click the link below within 24 hours to verify your identity and prevent account suspension.</a:t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1620">
                <a:solidFill>
                  <a:srgbClr val="FFFFFF"/>
                </a:solidFill>
              </a:rPr>
              <a:t>VERIFY YOUR ACCOUNT NOW</a:t>
            </a:r>
            <a:endParaRPr b="1"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620">
                <a:solidFill>
                  <a:srgbClr val="FFFFFF"/>
                </a:solidFill>
              </a:rPr>
              <a:t>Thank you,</a:t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620">
                <a:solidFill>
                  <a:srgbClr val="FFFFFF"/>
                </a:solidFill>
              </a:rPr>
              <a:t>Account Security Team</a:t>
            </a:r>
            <a:endParaRPr sz="16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7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5 WARNING SIGNS OF PHISHING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90700" y="1316950"/>
            <a:ext cx="8520600" cy="32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1. </a:t>
            </a:r>
            <a:r>
              <a:rPr b="1" lang="en" sz="1600">
                <a:solidFill>
                  <a:srgbClr val="FFFFFF"/>
                </a:solidFill>
              </a:rPr>
              <a:t>Urgent Language </a:t>
            </a:r>
            <a:r>
              <a:rPr lang="en" sz="1600">
                <a:solidFill>
                  <a:srgbClr val="FFFFFF"/>
                </a:solidFill>
              </a:rPr>
              <a:t>— Threatens account suspension within 24 hours.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2.</a:t>
            </a:r>
            <a:r>
              <a:rPr b="1" lang="en" sz="1600">
                <a:solidFill>
                  <a:srgbClr val="FFFFFF"/>
                </a:solidFill>
              </a:rPr>
              <a:t> Generic Greeting </a:t>
            </a:r>
            <a:r>
              <a:rPr lang="en" sz="1600">
                <a:solidFill>
                  <a:srgbClr val="FFFFFF"/>
                </a:solidFill>
              </a:rPr>
              <a:t>— Uses “Dear User” instead of your name.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3. </a:t>
            </a:r>
            <a:r>
              <a:rPr b="1" lang="en" sz="1600">
                <a:solidFill>
                  <a:srgbClr val="FFFFFF"/>
                </a:solidFill>
              </a:rPr>
              <a:t>Suspicious Link</a:t>
            </a:r>
            <a:r>
              <a:rPr lang="en" sz="1600">
                <a:solidFill>
                  <a:srgbClr val="FFFFFF"/>
                </a:solidFill>
              </a:rPr>
              <a:t> — Encourages you to click a link to verify your account.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4. </a:t>
            </a:r>
            <a:r>
              <a:rPr b="1" lang="en" sz="1600">
                <a:solidFill>
                  <a:srgbClr val="FFFFFF"/>
                </a:solidFill>
              </a:rPr>
              <a:t>Possible Impersonation</a:t>
            </a:r>
            <a:r>
              <a:rPr lang="en" sz="1600">
                <a:solidFill>
                  <a:srgbClr val="FFFFFF"/>
                </a:solidFill>
              </a:rPr>
              <a:t> — Claims to be an account security team without proving its identity.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5. </a:t>
            </a:r>
            <a:r>
              <a:rPr b="1" lang="en" sz="1600">
                <a:solidFill>
                  <a:srgbClr val="FFFFFF"/>
                </a:solidFill>
              </a:rPr>
              <a:t>Request for Action</a:t>
            </a:r>
            <a:r>
              <a:rPr lang="en" sz="1600">
                <a:solidFill>
                  <a:srgbClr val="FFFFFF"/>
                </a:solidFill>
              </a:rPr>
              <a:t> — Pressures you to act quickly without independently verifying the alert.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26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More Warning Signs of Phishing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836950"/>
            <a:ext cx="8520600" cy="42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6. </a:t>
            </a:r>
            <a:r>
              <a:rPr b="1" lang="en" sz="1600">
                <a:solidFill>
                  <a:srgbClr val="FFFFFF"/>
                </a:solidFill>
              </a:rPr>
              <a:t>Suspicious Sender Address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The email address contains misspellings or an unfamiliar domain.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7. </a:t>
            </a:r>
            <a:r>
              <a:rPr b="1" lang="en" sz="1600">
                <a:solidFill>
                  <a:srgbClr val="FFFFFF"/>
                </a:solidFill>
              </a:rPr>
              <a:t>Spelling and Grammar Mistakes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The message contains unusual wording, errors, or strange formatting.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8. </a:t>
            </a:r>
            <a:r>
              <a:rPr b="1" lang="en" sz="1600">
                <a:solidFill>
                  <a:srgbClr val="FFFFFF"/>
                </a:solidFill>
              </a:rPr>
              <a:t>Unexpected Attachments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The email asks you to open an unexpected file that could contain malware.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9. </a:t>
            </a:r>
            <a:r>
              <a:rPr b="1" lang="en" sz="1600">
                <a:solidFill>
                  <a:srgbClr val="FFFFFF"/>
                </a:solidFill>
              </a:rPr>
              <a:t>Requests for Sensitive Information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1600">
                <a:solidFill>
                  <a:srgbClr val="FFFFFF"/>
                </a:solidFill>
              </a:rPr>
              <a:t>    The sender asks for passwords, verification codes, or banking details.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10. </a:t>
            </a:r>
            <a:r>
              <a:rPr b="1" lang="en" sz="1600">
                <a:solidFill>
                  <a:srgbClr val="FFFFFF"/>
                </a:solidFill>
              </a:rPr>
              <a:t>Offers That Seem Too Good to Be True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  Unexpected prizes, rewards, or refunds may be used to trick you.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51200" y="5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How to Protect Yourself from Phishing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467950"/>
            <a:ext cx="85206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50">
                <a:solidFill>
                  <a:srgbClr val="00FF00"/>
                </a:solidFill>
              </a:rPr>
              <a:t>10 WAYS TO STAY SAFE FROM PHISHING</a:t>
            </a:r>
            <a:endParaRPr sz="75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1. </a:t>
            </a:r>
            <a:r>
              <a:rPr b="1" lang="en" sz="1600">
                <a:solidFill>
                  <a:srgbClr val="FFFFFF"/>
                </a:solidFill>
              </a:rPr>
              <a:t>Check the sender</a:t>
            </a:r>
            <a:r>
              <a:rPr lang="en" sz="1600">
                <a:solidFill>
                  <a:srgbClr val="FFFFFF"/>
                </a:solidFill>
              </a:rPr>
              <a:t> — Verify the full email address.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2. </a:t>
            </a:r>
            <a:r>
              <a:rPr b="1" lang="en" sz="1600">
                <a:solidFill>
                  <a:srgbClr val="FFFFFF"/>
                </a:solidFill>
              </a:rPr>
              <a:t>Inspect links</a:t>
            </a:r>
            <a:r>
              <a:rPr lang="en" sz="1600">
                <a:solidFill>
                  <a:srgbClr val="FFFFFF"/>
                </a:solidFill>
              </a:rPr>
              <a:t> — Check the destination before opening a link.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3. </a:t>
            </a:r>
            <a:r>
              <a:rPr b="1" lang="en" sz="1600">
                <a:solidFill>
                  <a:srgbClr val="FFFFFF"/>
                </a:solidFill>
              </a:rPr>
              <a:t>Avoid unexpected attachments</a:t>
            </a:r>
            <a:r>
              <a:rPr lang="en" sz="1600">
                <a:solidFill>
                  <a:srgbClr val="FFFFFF"/>
                </a:solidFill>
              </a:rPr>
              <a:t> — Don't open suspicious files.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4. </a:t>
            </a:r>
            <a:r>
              <a:rPr b="1" lang="en" sz="1600">
                <a:solidFill>
                  <a:srgbClr val="FFFFFF"/>
                </a:solidFill>
              </a:rPr>
              <a:t>Never share passwords</a:t>
            </a:r>
            <a:r>
              <a:rPr lang="en" sz="1600">
                <a:solidFill>
                  <a:srgbClr val="FFFFFF"/>
                </a:solidFill>
              </a:rPr>
              <a:t> — Don't disclose passwords or verification codes through email.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5. </a:t>
            </a:r>
            <a:r>
              <a:rPr b="1" lang="en" sz="1600">
                <a:solidFill>
                  <a:srgbClr val="FFFFFF"/>
                </a:solidFill>
              </a:rPr>
              <a:t>Use multi-factor authentication (MFA) </a:t>
            </a:r>
            <a:r>
              <a:rPr lang="en" sz="1600">
                <a:solidFill>
                  <a:srgbClr val="FFFFFF"/>
                </a:solidFill>
              </a:rPr>
              <a:t>— Add another layer of account protection.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6</a:t>
            </a:r>
            <a:r>
              <a:rPr b="1" lang="en" sz="1600">
                <a:solidFill>
                  <a:srgbClr val="FFFFFF"/>
                </a:solidFill>
              </a:rPr>
              <a:t>. Use strong, unique passwords</a:t>
            </a:r>
            <a:r>
              <a:rPr lang="en" sz="1600">
                <a:solidFill>
                  <a:srgbClr val="FFFFFF"/>
                </a:solidFill>
              </a:rPr>
              <a:t> — Avoid reusing passwords across accounts.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7.</a:t>
            </a:r>
            <a:r>
              <a:rPr b="1" lang="en" sz="1600">
                <a:solidFill>
                  <a:srgbClr val="FFFFFF"/>
                </a:solidFill>
              </a:rPr>
              <a:t> Keep software updated </a:t>
            </a:r>
            <a:r>
              <a:rPr lang="en" sz="1600">
                <a:solidFill>
                  <a:srgbClr val="FFFFFF"/>
                </a:solidFill>
              </a:rPr>
              <a:t>— Install security updates promptly.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8. </a:t>
            </a:r>
            <a:r>
              <a:rPr b="1" lang="en" sz="1600">
                <a:solidFill>
                  <a:srgbClr val="FFFFFF"/>
                </a:solidFill>
              </a:rPr>
              <a:t>Verify urgent requests</a:t>
            </a:r>
            <a:r>
              <a:rPr lang="en" sz="1600">
                <a:solidFill>
                  <a:srgbClr val="FFFFFF"/>
                </a:solidFill>
              </a:rPr>
              <a:t> — Contact the person or company through a trusted channel.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9. </a:t>
            </a:r>
            <a:r>
              <a:rPr b="1" lang="en" sz="1600">
                <a:solidFill>
                  <a:srgbClr val="FFFFFF"/>
                </a:solidFill>
              </a:rPr>
              <a:t>Report suspicious messages</a:t>
            </a:r>
            <a:r>
              <a:rPr lang="en" sz="1600">
                <a:solidFill>
                  <a:srgbClr val="FFFFFF"/>
                </a:solidFill>
              </a:rPr>
              <a:t> — Use your organization's reporting process or email provider's phishing-report option.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10. </a:t>
            </a:r>
            <a:r>
              <a:rPr b="1" lang="en" sz="1600">
                <a:solidFill>
                  <a:srgbClr val="FFFFFF"/>
                </a:solidFill>
              </a:rPr>
              <a:t>Think before you click</a:t>
            </a:r>
            <a:r>
              <a:rPr lang="en" sz="1600">
                <a:solidFill>
                  <a:srgbClr val="FFFFFF"/>
                </a:solidFill>
              </a:rPr>
              <a:t> — Pause and check before taking action.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35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What to Do After Clicking a Phishing Link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24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FF00"/>
                </a:solidFill>
              </a:rPr>
              <a:t>STEPS TO TAKE IMMEDIATELY</a:t>
            </a:r>
            <a:endParaRPr b="1" sz="16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1. Stop interacting with the website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Do not click anything else or enter more information.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2. Disconnect if necessary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    If you downloaded a suspicious file or suspect malware, disconnect the affected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device from the network if safe to do so, and contact IT support.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3. Change compromised passwords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    Use the official website on a trusted device if possible. Change reused passwords too.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</a:rPr>
              <a:t>4. Enable multi-factor authentication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    Turn it on if available, and review account sessions and recovery settings.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</a:rPr>
              <a:t>5. Report the incident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    Inform your IT or security team, or report it to the relevant service provider.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</a:rPr>
              <a:t>6. Monitor your accounts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    Check for unusual sign-ins, transactions, or account changes.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221300" y="56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FFFFFF"/>
                </a:solidFill>
              </a:rPr>
              <a:t>Phishing Awareness Quiz</a:t>
            </a:r>
            <a:endParaRPr b="1" sz="2620">
              <a:solidFill>
                <a:srgbClr val="FFFFFF"/>
              </a:solidFill>
            </a:endParaRPr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668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1: SUSPICIOUS EMAIL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You receive an email saying your account will be closed unless you click a link immediately. What should you do?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A. Click the link quickly.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B. Reply with your password.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C. Verify the message through the official website or app.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D. Forward it to all your friends.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2: SUSPICIOUS LINKS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Which is the safest way to check a link in a suspicious email?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A. Click it to see where it goes.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B. Check the destination carefully without opening it, and visit the official website directly when in doubt.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C. Trust it if the email has a company logo.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D. Forward it to a friend to test.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>
                <a:solidFill>
                  <a:srgbClr val="FFFFFF"/>
                </a:solidFill>
              </a:rPr>
              <a:t>Question 3: Password Safety </a:t>
            </a:r>
            <a:endParaRPr b="1" sz="1620">
              <a:solidFill>
                <a:srgbClr val="FFFFFF"/>
              </a:solidFill>
            </a:endParaRPr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An email asks you to reply with your password to prevent your account from being locked. What should you do?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A. Send your password immediately.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B. Send your password only if the email looks professional.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C. Never share your password; report the suspicious email.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D. Use the same password but change one letter.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>
                <a:solidFill>
                  <a:schemeClr val="lt1"/>
                </a:solidFill>
              </a:rPr>
              <a:t>Question 4: Unexpected Attachments </a:t>
            </a:r>
            <a:endParaRPr b="1" sz="1620">
              <a:solidFill>
                <a:schemeClr val="lt1"/>
              </a:solidFill>
            </a:endParaRPr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You receive an unexpected email attachment from an unknown sender. What is the safest action?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A. Open it immediately.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B. Download it and scan it later.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C. Do not open it; report the email and verify the sender through a trusted channel if needed.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D. Forward it to your friends.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620">
                <a:solidFill>
                  <a:srgbClr val="FFFFFF"/>
                </a:solidFill>
              </a:rPr>
              <a:t>Q5. Multi-Factor Authentication (MFA)</a:t>
            </a:r>
            <a:endParaRPr b="1" sz="162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620">
              <a:solidFill>
                <a:schemeClr val="dk2"/>
              </a:solidFill>
            </a:endParaRPr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18">
                <a:solidFill>
                  <a:srgbClr val="FFFFFF"/>
                </a:solidFill>
              </a:rPr>
              <a:t>You receive a login approval request on your phone, but you are not trying to sign in. What should you do?</a:t>
            </a:r>
            <a:endParaRPr sz="1918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18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18">
                <a:solidFill>
                  <a:srgbClr val="FFFFFF"/>
                </a:solidFill>
              </a:rPr>
              <a:t>A. Approve it to make the notification disappear.</a:t>
            </a:r>
            <a:endParaRPr sz="1918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18">
                <a:solidFill>
                  <a:srgbClr val="FFFFFF"/>
                </a:solidFill>
              </a:rPr>
              <a:t>B. Ignore it and keep approving future requests.</a:t>
            </a:r>
            <a:endParaRPr sz="1918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18">
                <a:solidFill>
                  <a:srgbClr val="FFFFFF"/>
                </a:solidFill>
              </a:rPr>
              <a:t>C. Deny the request and report it if necessary.</a:t>
            </a:r>
            <a:endParaRPr sz="1918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18">
                <a:solidFill>
                  <a:srgbClr val="FFFFFF"/>
                </a:solidFill>
              </a:rPr>
              <a:t>D. Share the approval code with someone who asks.</a:t>
            </a:r>
            <a:endParaRPr sz="1918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222850" y="27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6: Unexpected Email Attachment</a:t>
            </a:r>
            <a:endParaRPr b="1" sz="3300"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222850" y="1004375"/>
            <a:ext cx="8520600" cy="3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You receive an unexpected email attachment from an unknown sender. What should you do?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A. Open it to see what it contains.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B. Download it and scan it later.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C. Do not open it; report the email and verify the sender through a trusted channel.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D. Forward it to your friends to ask if it is safe.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7: Fake Website Detection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You receive an email asking you to log in to your bank account. The website link looks similar to your bank's official address but contains a small spelling difference.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</a:rPr>
              <a:t>What should you do?</a:t>
            </a:r>
            <a:endParaRPr b="1"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A. Enter your login details because the website looks familiar.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B. Click the link and check whether the website has a logo.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C. Avoid the link and access your bank through its official website or app.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D. Enter your details if the website uses HTTPS.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46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8: Social Engineering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You receive a phone call from someone claiming to be IT support. They urgently ask you to reveal your password to fix an account problem.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What should you do?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A. Share your password because they claim to be IT support.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B. Ask them to prove their identity by sending an email.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C. Refuse to share your password and verify the request through an official IT support channel.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D. Share your password if they know your name.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9: Multi-Factor Authentication (MFA)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FFFFFF"/>
                </a:solidFill>
              </a:rPr>
              <a:t>Why is enabling Multi-Factor Authentication (MFA) important for protecting your online accounts?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</a:rPr>
              <a:t>A.</a:t>
            </a:r>
            <a:r>
              <a:rPr lang="en" sz="1500">
                <a:solidFill>
                  <a:srgbClr val="FFFFFF"/>
                </a:solidFill>
              </a:rPr>
              <a:t> It makes your password unnecessary.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</a:rPr>
              <a:t>B.</a:t>
            </a:r>
            <a:r>
              <a:rPr lang="en" sz="1500">
                <a:solidFill>
                  <a:srgbClr val="FFFFFF"/>
                </a:solidFill>
              </a:rPr>
              <a:t> It adds an extra layer of security beyond your password.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</a:rPr>
              <a:t>C.</a:t>
            </a:r>
            <a:r>
              <a:rPr lang="en" sz="1500">
                <a:solidFill>
                  <a:srgbClr val="FFFFFF"/>
                </a:solidFill>
              </a:rPr>
              <a:t> It prevents every possible cyberattack.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</a:rPr>
              <a:t>D.</a:t>
            </a:r>
            <a:r>
              <a:rPr lang="en" sz="1500">
                <a:solidFill>
                  <a:srgbClr val="FFFFFF"/>
                </a:solidFill>
              </a:rPr>
              <a:t> It allows you to share your login details safely.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10: Reporting a Phishing Attack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213" name="Google Shape;213;p39"/>
          <p:cNvSpPr txBox="1"/>
          <p:nvPr>
            <p:ph idx="1" type="body"/>
          </p:nvPr>
        </p:nvSpPr>
        <p:spPr>
          <a:xfrm>
            <a:off x="14637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You receive a suspicious email asking you to click a link and verify your account details. What is the best action to take?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A.</a:t>
            </a:r>
            <a:r>
              <a:rPr lang="en" sz="1600">
                <a:solidFill>
                  <a:srgbClr val="FFFFFF"/>
                </a:solidFill>
              </a:rPr>
              <a:t> Ignore the warning signs and click the link.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B.</a:t>
            </a:r>
            <a:r>
              <a:rPr lang="en" sz="1600">
                <a:solidFill>
                  <a:srgbClr val="FFFFFF"/>
                </a:solidFill>
              </a:rPr>
              <a:t> Reply to the sender to ask whether the email is genuine.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C.</a:t>
            </a:r>
            <a:r>
              <a:rPr lang="en" sz="1600">
                <a:solidFill>
                  <a:srgbClr val="FFFFFF"/>
                </a:solidFill>
              </a:rPr>
              <a:t> Report the email using your organization's approved reporting process or your email provider's phishing-reporting option.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D.</a:t>
            </a:r>
            <a:r>
              <a:rPr lang="en" sz="1600">
                <a:solidFill>
                  <a:srgbClr val="FFFFFF"/>
                </a:solidFill>
              </a:rPr>
              <a:t> Forward the email to your colleagues to see what they think.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415225" y="8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Answer Key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311700" y="582325"/>
            <a:ext cx="8520600" cy="44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4955">
                <a:solidFill>
                  <a:srgbClr val="FFFFFF"/>
                </a:solidFill>
              </a:rPr>
              <a:t>Question 1: Suspicious Email</a:t>
            </a:r>
            <a:endParaRPr b="1"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955">
                <a:solidFill>
                  <a:srgbClr val="FFFFFF"/>
                </a:solidFill>
              </a:rPr>
              <a:t>Correct answer: </a:t>
            </a:r>
            <a:r>
              <a:rPr b="1" lang="en" sz="4955">
                <a:solidFill>
                  <a:srgbClr val="FFFFFF"/>
                </a:solidFill>
              </a:rPr>
              <a:t>C — Verify through the official website or app.</a:t>
            </a:r>
            <a:endParaRPr b="1"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955">
                <a:solidFill>
                  <a:srgbClr val="FFFFFF"/>
                </a:solidFill>
              </a:rPr>
              <a:t>Explanation: Urgent messages threatening account closure may be phishing attempts. Verify independently before taking action.</a:t>
            </a:r>
            <a:endParaRPr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4955">
                <a:solidFill>
                  <a:srgbClr val="FFFFFF"/>
                </a:solidFill>
              </a:rPr>
              <a:t>Question 2: Suspicious Links</a:t>
            </a:r>
            <a:endParaRPr b="1"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955">
                <a:solidFill>
                  <a:srgbClr val="FFFFFF"/>
                </a:solidFill>
              </a:rPr>
              <a:t>Correct answer: </a:t>
            </a:r>
            <a:r>
              <a:rPr b="1" lang="en" sz="4955">
                <a:solidFill>
                  <a:srgbClr val="FFFFFF"/>
                </a:solidFill>
              </a:rPr>
              <a:t>B — Check the destination carefully and visit the official website directly if unsure.</a:t>
            </a:r>
            <a:endParaRPr b="1"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955">
                <a:solidFill>
                  <a:srgbClr val="FFFFFF"/>
                </a:solidFill>
              </a:rPr>
              <a:t>Explanation: A familiar logo or website appearance does not guarantee a link is safe.</a:t>
            </a:r>
            <a:endParaRPr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4955">
                <a:solidFill>
                  <a:srgbClr val="FFFFFF"/>
                </a:solidFill>
              </a:rPr>
              <a:t>Question 3: Urgent Money Transfer</a:t>
            </a:r>
            <a:endParaRPr b="1"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955">
                <a:solidFill>
                  <a:srgbClr val="FFFFFF"/>
                </a:solidFill>
              </a:rPr>
              <a:t>Correct answer: </a:t>
            </a:r>
            <a:r>
              <a:rPr b="1" lang="en" sz="4955">
                <a:solidFill>
                  <a:srgbClr val="FFFFFF"/>
                </a:solidFill>
              </a:rPr>
              <a:t>B — Verify the request through a separate trusted channel.</a:t>
            </a:r>
            <a:endParaRPr b="1"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4955">
                <a:solidFill>
                  <a:srgbClr val="FFFFFF"/>
                </a:solidFill>
              </a:rPr>
              <a:t>Explanation: Attackers may impersonate managers to pressure employees into transferring money.</a:t>
            </a:r>
            <a:endParaRPr sz="495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Answer Key</a:t>
            </a:r>
            <a:endParaRPr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225" name="Google Shape;22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4: Phishing Warning Signs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Correct answer: </a:t>
            </a:r>
            <a:r>
              <a:rPr b="1" lang="en" sz="1600">
                <a:solidFill>
                  <a:srgbClr val="FFFFFF"/>
                </a:solidFill>
              </a:rPr>
              <a:t>A — An unexpected request for a verification code.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Explanation: Never share authentication codes in response to an unexpected request.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5: Spear Phishing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Correct answer: </a:t>
            </a:r>
            <a:r>
              <a:rPr b="1" lang="en" sz="1600">
                <a:solidFill>
                  <a:srgbClr val="FFFFFF"/>
                </a:solidFill>
              </a:rPr>
              <a:t>A — A targeted phishing attempt against a specific person or organization.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Explanation: Spear phishing uses personalized information to make fraudulent messages seem credible.</a:t>
            </a:r>
            <a:endParaRPr sz="2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385175" y="132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Answer Key</a:t>
            </a:r>
            <a:endParaRPr sz="3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385175" y="748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>
                <a:solidFill>
                  <a:srgbClr val="FFFFFF"/>
                </a:solidFill>
              </a:rPr>
              <a:t>Question 6: Unexpected Email Attachment</a:t>
            </a:r>
            <a:endParaRPr b="1"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rgbClr val="FFFFFF"/>
                </a:solidFill>
              </a:rPr>
              <a:t>Correct answer: C — Avoid opening it and report the suspicious email.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rgbClr val="FFFFFF"/>
                </a:solidFill>
              </a:rPr>
              <a:t>Explanation: Unexpected attachments may contain malware. Avoid opening them and report suspicious messages.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>
                <a:solidFill>
                  <a:srgbClr val="FFFFFF"/>
                </a:solidFill>
              </a:rPr>
              <a:t>Question 7: Fake Website Detection</a:t>
            </a:r>
            <a:endParaRPr b="1"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rgbClr val="FFFFFF"/>
                </a:solidFill>
              </a:rPr>
              <a:t>Correct answer: C — Avoid the link and access your bank through its official website or app.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rgbClr val="FFFFFF"/>
                </a:solidFill>
              </a:rPr>
              <a:t>Explanation: Fake websites can imitate legitimate websites to steal login details.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>
                <a:solidFill>
                  <a:srgbClr val="FFFFFF"/>
                </a:solidFill>
              </a:rPr>
              <a:t>Question 8: Social Engineering</a:t>
            </a:r>
            <a:endParaRPr b="1"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rgbClr val="FFFFFF"/>
                </a:solidFill>
              </a:rPr>
              <a:t>Correct answer: C — Refuse to share your password and verify the request through an official IT support channel.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rgbClr val="FFFFFF"/>
                </a:solidFill>
              </a:rPr>
              <a:t>Explanation: Legitimate IT support should not need you to disclose your password.</a:t>
            </a:r>
            <a:endParaRPr sz="6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Answer Key</a:t>
            </a:r>
            <a:endParaRPr sz="3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9: Multi-Factor Authentication (MFA)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Correct answer: B — It adds an extra layer of security beyond your password.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Explanation: MFA makes account access more difficult for attackers who have obtained your password.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Question 10: Reporting a Phishing Attack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Correct answer: C — Report the email using your organization's approved reporting process or your email provider's phishing-reporting option.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Explanation: Reporting suspicious messages helps security teams identify threats and protect other users.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Check Your Score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1 point for each correct answer.</a:t>
            </a:r>
            <a:endParaRPr b="1"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9–10 points:</a:t>
            </a:r>
            <a:r>
              <a:rPr lang="en" sz="1600">
                <a:solidFill>
                  <a:srgbClr val="FFFFFF"/>
                </a:solidFill>
              </a:rPr>
              <a:t> Excellent! You recognize phishing threats very well.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7–8 points:</a:t>
            </a:r>
            <a:r>
              <a:rPr lang="en" sz="1600">
                <a:solidFill>
                  <a:srgbClr val="FFFFFF"/>
                </a:solidFill>
              </a:rPr>
              <a:t> Good work! Review the warning signs to improve further.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5–6 points:</a:t>
            </a:r>
            <a:r>
              <a:rPr lang="en" sz="1600">
                <a:solidFill>
                  <a:srgbClr val="FFFFFF"/>
                </a:solidFill>
              </a:rPr>
              <a:t> Keep learning and practice identifying suspicious messages.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0–4 points:</a:t>
            </a:r>
            <a:r>
              <a:rPr lang="en" sz="1600">
                <a:solidFill>
                  <a:srgbClr val="FFFFFF"/>
                </a:solidFill>
              </a:rPr>
              <a:t> Review the training and try the quiz again.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Remember:</a:t>
            </a:r>
            <a:r>
              <a:rPr lang="en" sz="1600">
                <a:solidFill>
                  <a:srgbClr val="FFFFFF"/>
                </a:solidFill>
              </a:rPr>
              <a:t> The goal is not just to score well. It's to recognize phishing attempts and respond safely in real life.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Thank You!</a:t>
            </a:r>
            <a:endParaRPr sz="3100">
              <a:solidFill>
                <a:srgbClr val="FFFFFF"/>
              </a:solidFill>
            </a:endParaRPr>
          </a:p>
        </p:txBody>
      </p:sp>
      <p:sp>
        <p:nvSpPr>
          <p:cNvPr id="249" name="Google Shape;249;p4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Stay Alert. Think Before You Click. Stay Safe Online.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Key Takeaways: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Recognize phishing warning signs.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Verify links and senders before trusting them.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Never share passwords or verification codes.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Report suspicious emails immediately.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Cybersecurity Starts With You!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CodeAlpha Cyber Security Internship</a:t>
            </a:r>
            <a:br>
              <a:rPr lang="en" sz="1600">
                <a:solidFill>
                  <a:srgbClr val="FFFFFF"/>
                </a:solidFill>
              </a:rPr>
            </a:br>
            <a:r>
              <a:rPr lang="en" sz="1600">
                <a:solidFill>
                  <a:srgbClr val="FFFFFF"/>
                </a:solidFill>
              </a:rPr>
              <a:t>Project: Phishing Awareness Training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Created by: Usama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6" title="uBZP0r4kIZL8gWydIb3gNkSCZxjkq1M7B96Ro5zp_6oyl02KMLzNgwpFkNCynGCcxrTbChpRmkk1Z13k39tx5WhAGFu9TiOXhsNaboE01p2BgyXSvBn6K27axca4AQDsbMnCO0AXCXaEI1pGH2smlZ3O4insElgEXhdyNGhK8AcqwIgmrwf65zlXem6v_Rx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428625"/>
            <a:ext cx="7620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6"/>
          <p:cNvSpPr txBox="1"/>
          <p:nvPr/>
        </p:nvSpPr>
        <p:spPr>
          <a:xfrm>
            <a:off x="8770175" y="48270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solidFill>
                  <a:srgbClr val="FFFFFF"/>
                </a:solidFill>
              </a:rPr>
              <a:t>“Stay Alert. Stay Secure.” </a:t>
            </a:r>
            <a:endParaRPr sz="2620">
              <a:solidFill>
                <a:srgbClr val="FFFFFF"/>
              </a:solidFill>
            </a:endParaRPr>
          </a:p>
        </p:txBody>
      </p:sp>
      <p:sp>
        <p:nvSpPr>
          <p:cNvPr id="263" name="Google Shape;26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Key takeaways</a:t>
            </a:r>
            <a:endParaRPr b="1" sz="1600">
              <a:solidFill>
                <a:srgbClr val="FFFFFF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</a:pPr>
            <a:r>
              <a:rPr lang="en" sz="1600">
                <a:solidFill>
                  <a:srgbClr val="FFFFFF"/>
                </a:solidFill>
              </a:rPr>
              <a:t>Think before you click.</a:t>
            </a:r>
            <a:endParaRPr sz="1600">
              <a:solidFill>
                <a:srgbClr val="FFFFFF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</a:pPr>
            <a:r>
              <a:rPr lang="en" sz="1600">
                <a:solidFill>
                  <a:srgbClr val="FFFFFF"/>
                </a:solidFill>
              </a:rPr>
              <a:t>Check the sender's email address.</a:t>
            </a:r>
            <a:endParaRPr sz="1600">
              <a:solidFill>
                <a:srgbClr val="FFFFFF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</a:pPr>
            <a:r>
              <a:rPr lang="en" sz="1600">
                <a:solidFill>
                  <a:srgbClr val="FFFFFF"/>
                </a:solidFill>
              </a:rPr>
              <a:t>Inspect links before opening them.</a:t>
            </a:r>
            <a:endParaRPr sz="1600">
              <a:solidFill>
                <a:srgbClr val="FFFFFF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</a:pPr>
            <a:r>
              <a:rPr lang="en" sz="1600">
                <a:solidFill>
                  <a:srgbClr val="FFFFFF"/>
                </a:solidFill>
              </a:rPr>
              <a:t>Never share passwords or verification codes through suspicious messages.</a:t>
            </a:r>
            <a:endParaRPr sz="1600">
              <a:solidFill>
                <a:srgbClr val="FFFFFF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</a:pPr>
            <a:r>
              <a:rPr lang="en" sz="1600">
                <a:solidFill>
                  <a:srgbClr val="FFFFFF"/>
                </a:solidFill>
              </a:rPr>
              <a:t>Report suspected phishing to your IT or security team.</a:t>
            </a:r>
            <a:endParaRPr sz="1600">
              <a:solidFill>
                <a:srgbClr val="FFFFFF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Char char="●"/>
            </a:pPr>
            <a:r>
              <a:rPr lang="en" sz="1600">
                <a:solidFill>
                  <a:srgbClr val="FFFFFF"/>
                </a:solidFill>
              </a:rPr>
              <a:t>Verify urgent requests through a trusted channel.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FF00"/>
                </a:solidFill>
              </a:rPr>
              <a:t> CodeAlpha Cybersecurity Internship — Task 2: Phishing Awareness Training </a:t>
            </a:r>
            <a:endParaRPr sz="13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